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258" r:id="rId2"/>
    <p:sldId id="263" r:id="rId3"/>
    <p:sldId id="281" r:id="rId4"/>
    <p:sldId id="282" r:id="rId5"/>
    <p:sldId id="283" r:id="rId6"/>
    <p:sldId id="284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DCBEE5D-EB48-5F32-FB06-78759C298739}" name="Rajendran, Anupama" initials="RA" userId="S::whw24002@uconn.edu::1bce62bf-cda0-49d7-8dcd-f8a3e8a861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8"/>
    <p:restoredTop sz="94648"/>
  </p:normalViewPr>
  <p:slideViewPr>
    <p:cSldViewPr snapToGrid="0">
      <p:cViewPr varScale="1">
        <p:scale>
          <a:sx n="20" d="100"/>
          <a:sy n="20" d="100"/>
        </p:scale>
        <p:origin x="184" y="2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252AC-8E40-E94F-8E28-6D205A8F339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FFF54-CAB0-DE46-9A28-67B9D8531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0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GB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FFF54-CAB0-DE46-9A28-67B9D8531D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9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GB" dirty="0"/>
              <a:t>The </a:t>
            </a:r>
            <a:r>
              <a:rPr lang="en" altLang="ko-Kore-GB" dirty="0" err="1"/>
              <a:t>xAI</a:t>
            </a:r>
            <a:r>
              <a:rPr lang="en" altLang="ko-Kore-GB" dirty="0"/>
              <a:t> layer confirmed that the model focused on biologically meaningful contamination terminology associated with severe food recalls</a:t>
            </a:r>
            <a:endParaRPr kumimoji="1" lang="ko-Kore-GB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FFF54-CAB0-DE46-9A28-67B9D8531D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7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olid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F69-57E9-EA87-F0D3-4E4ECFE2C8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00199"/>
            <a:ext cx="10398370" cy="2658816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Example of the Presentation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6D2B-CD77-7CA4-C38B-596D7F2890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740885"/>
            <a:ext cx="10398370" cy="51691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88D4685-EAAA-959A-E6E5-FC9D9A0E6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6477" y="5392420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F6BAA-79CB-1903-7B5F-DBD11414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5/22/26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0321-AC6E-0EC8-BD13-D5C40BD4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0C08-AC21-5192-1A47-64811B02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A0ECA0-3558-C683-30FF-EA481B12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430" y="0"/>
            <a:ext cx="3376246" cy="1277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Conn blue wordmark">
            <a:extLst>
              <a:ext uri="{FF2B5EF4-FFF2-40B4-BE49-F238E27FC236}">
                <a16:creationId xmlns:a16="http://schemas.microsoft.com/office/drawing/2014/main" id="{61D3C0A5-9F42-4013-62A9-5EBFA6AB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95" y="435012"/>
            <a:ext cx="2475621" cy="51575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1612B8-F6C9-F581-7CCE-4A4CA3BD5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5430" y="4510214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D9D9A2-C3DD-CC2B-BEBC-839A77821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6257" y="501644"/>
            <a:ext cx="6650313" cy="7043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18899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oli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F69-57E9-EA87-F0D3-4E4ECFE2C8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09223"/>
            <a:ext cx="10398370" cy="276482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Example of the Presentation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6D2B-CD77-7CA4-C38B-596D7F2890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769829"/>
            <a:ext cx="10398370" cy="57894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2F1F4BE-30CC-868B-57F1-4960036FFE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6477" y="5392420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F6BAA-79CB-1903-7B5F-DBD11414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5/22/26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0321-AC6E-0EC8-BD13-D5C40BD4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0C08-AC21-5192-1A47-64811B02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84295-D324-502A-4D35-22B2442CC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430" y="0"/>
            <a:ext cx="3376246" cy="1277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Conn wordmark in white&#10;">
            <a:extLst>
              <a:ext uri="{FF2B5EF4-FFF2-40B4-BE49-F238E27FC236}">
                <a16:creationId xmlns:a16="http://schemas.microsoft.com/office/drawing/2014/main" id="{642A3E03-432D-5FE3-1123-7FE5CAC6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47" y="375139"/>
            <a:ext cx="2521335" cy="52527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1AB98F-E41D-543B-CD4E-962DF058C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5430" y="4510214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DBE8451-3C7F-C3A0-A584-F0FCA51166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6257" y="501644"/>
            <a:ext cx="6650313" cy="7043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28340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with Phot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F69-57E9-EA87-F0D3-4E4ECFE2C8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9938" y="1712827"/>
            <a:ext cx="6155726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Blue Title Slide with Photo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6D2B-CD77-7CA4-C38B-596D7F2890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9938" y="4192502"/>
            <a:ext cx="6155726" cy="46832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A76DC24-4851-294E-4AEB-1A747A77AE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333" y="4752906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604370C-7120-2B5F-90F7-1A12C044F7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F15C2C-F196-6B3F-9C1F-5B834CBE0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9938" y="0"/>
            <a:ext cx="3376246" cy="1277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Conn blue wordmark">
            <a:extLst>
              <a:ext uri="{FF2B5EF4-FFF2-40B4-BE49-F238E27FC236}">
                <a16:creationId xmlns:a16="http://schemas.microsoft.com/office/drawing/2014/main" id="{7DC17936-469A-6F9D-A77D-7B320DD2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3" y="435012"/>
            <a:ext cx="2475621" cy="515754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13FDAB3-A3A1-E9F3-B57B-B13876940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5949" y="391252"/>
            <a:ext cx="3186143" cy="84256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118972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with Phot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F69-57E9-EA87-F0D3-4E4ECFE2C8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9938" y="1712827"/>
            <a:ext cx="6155726" cy="238760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Blue Title Slide with Photo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6D2B-CD77-7CA4-C38B-596D7F2890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9938" y="4192502"/>
            <a:ext cx="6155726" cy="46832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A76DC24-4851-294E-4AEB-1A747A77AE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333" y="4752906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604370C-7120-2B5F-90F7-1A12C044F7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F15D9-1D5D-8ED4-4852-AACCF3C90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769" y="0"/>
            <a:ext cx="3376246" cy="1277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UConn wordmark in white&#10;">
            <a:extLst>
              <a:ext uri="{FF2B5EF4-FFF2-40B4-BE49-F238E27FC236}">
                <a16:creationId xmlns:a16="http://schemas.microsoft.com/office/drawing/2014/main" id="{E5DBE6C4-D9C4-4156-B99D-990366BC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86" y="375139"/>
            <a:ext cx="2521335" cy="525278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D6AEB51-55C2-0E0C-AD9C-3B8B3ADD0A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5949" y="391252"/>
            <a:ext cx="3186143" cy="84256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3481313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33008"/>
            <a:ext cx="10515600" cy="897054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3D920-0B03-A062-D13A-64092285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82945"/>
            <a:ext cx="10515600" cy="550501"/>
          </a:xfrm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AE5380-EB48-8CE3-4872-E89E148C3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5430" y="1966306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0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33008"/>
            <a:ext cx="10515600" cy="897054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3D920-0B03-A062-D13A-64092285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82945"/>
            <a:ext cx="10515600" cy="550501"/>
          </a:xfrm>
        </p:spPr>
        <p:txBody>
          <a:bodyPr anchor="t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AE5380-EB48-8CE3-4872-E89E148C3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5430" y="1966306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 -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33008"/>
            <a:ext cx="10515600" cy="897054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3D920-0B03-A062-D13A-64092285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82945"/>
            <a:ext cx="10515600" cy="550501"/>
          </a:xfrm>
        </p:spPr>
        <p:txBody>
          <a:bodyPr anchor="t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AE5380-EB48-8CE3-4872-E89E148C3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5430" y="1966306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237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 - Roy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233008"/>
            <a:ext cx="10515600" cy="897054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3D920-0B03-A062-D13A-64092285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82945"/>
            <a:ext cx="10515600" cy="550501"/>
          </a:xfrm>
        </p:spPr>
        <p:txBody>
          <a:bodyPr anchor="t"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AE5380-EB48-8CE3-4872-E89E148C3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5430" y="1966306"/>
            <a:ext cx="1108148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37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Photo -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F28C751-5192-411F-82AC-2A1EFF53EE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312" y="1072423"/>
            <a:ext cx="3763596" cy="662593"/>
          </a:xfrm>
          <a:solidFill>
            <a:schemeClr val="tx2"/>
          </a:solidFill>
        </p:spPr>
        <p:txBody>
          <a:bodyPr anchor="ctr" anchorCtr="1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09349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Photo- Roya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F28C751-5192-411F-82AC-2A1EFF53EE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312" y="1072423"/>
            <a:ext cx="3763596" cy="662593"/>
          </a:xfrm>
          <a:solidFill>
            <a:schemeClr val="accent1"/>
          </a:solidFill>
        </p:spPr>
        <p:txBody>
          <a:bodyPr anchor="ctr" anchorCtr="1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5541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Photo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F28C751-5192-411F-82AC-2A1EFF53EE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C7A41-5533-F6DD-CCD6-AFF4A8A6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6433" y="1082362"/>
            <a:ext cx="3763596" cy="662593"/>
          </a:xfrm>
          <a:solidFill>
            <a:schemeClr val="accent2"/>
          </a:solidFill>
          <a:ln>
            <a:noFill/>
          </a:ln>
        </p:spPr>
        <p:txBody>
          <a:bodyPr anchor="ctr" anchorCtr="1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69822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2A9C-49DD-E223-DF74-7934535C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5515-2213-F19E-4233-6E67EE3C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8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C5A47-E4D9-1DA3-741B-71C8B8960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AB0E7-6421-A501-EB55-54BCDBE38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UConn wordmark in white&#10;">
            <a:extLst>
              <a:ext uri="{FF2B5EF4-FFF2-40B4-BE49-F238E27FC236}">
                <a16:creationId xmlns:a16="http://schemas.microsoft.com/office/drawing/2014/main" id="{6CB5B7B3-07F4-9BBE-B60A-F0288059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AD93709A-92A8-0A42-91E7-0F87C08518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3309779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ong Title and Content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2A9C-49DD-E223-DF74-7934535CE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1037"/>
            <a:ext cx="10515600" cy="1167637"/>
          </a:xfrm>
        </p:spPr>
        <p:txBody>
          <a:bodyPr anchor="t"/>
          <a:lstStyle/>
          <a:p>
            <a:r>
              <a:rPr lang="en-US"/>
              <a:t>Click to edit Master title style that needs an extra line for a long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5515-2213-F19E-4233-6E67EE3C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591"/>
            <a:ext cx="10515600" cy="3865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C5A47-E4D9-1DA3-741B-71C8B8960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AB0E7-6421-A501-EB55-54BCDBE38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947792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UConn wordmark in white&#10;">
            <a:extLst>
              <a:ext uri="{FF2B5EF4-FFF2-40B4-BE49-F238E27FC236}">
                <a16:creationId xmlns:a16="http://schemas.microsoft.com/office/drawing/2014/main" id="{6CB5B7B3-07F4-9BBE-B60A-F0288059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AD93709A-92A8-0A42-91E7-0F87C08518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975913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2A9C-49DD-E223-DF74-7934535C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5515-2213-F19E-4233-6E67EE3C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8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C5A47-E4D9-1DA3-741B-71C8B8960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AB0E7-6421-A501-EB55-54BCDBE38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UConn wordmark in white&#10;">
            <a:extLst>
              <a:ext uri="{FF2B5EF4-FFF2-40B4-BE49-F238E27FC236}">
                <a16:creationId xmlns:a16="http://schemas.microsoft.com/office/drawing/2014/main" id="{6CB5B7B3-07F4-9BBE-B60A-F0288059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8D83C24-0873-D59E-4A18-D628854DAE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3851387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ong Title and Content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2A9C-49DD-E223-DF74-7934535CE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1037"/>
            <a:ext cx="10515600" cy="1167637"/>
          </a:xfrm>
        </p:spPr>
        <p:txBody>
          <a:bodyPr anchor="t"/>
          <a:lstStyle/>
          <a:p>
            <a:r>
              <a:rPr lang="en-US"/>
              <a:t>Click to edit Master title style that needs an extra line for a long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5515-2213-F19E-4233-6E67EE3C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591"/>
            <a:ext cx="10515600" cy="3865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C5A47-E4D9-1DA3-741B-71C8B8960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AB0E7-6421-A501-EB55-54BCDBE38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947792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UConn wordmark in white&#10;">
            <a:extLst>
              <a:ext uri="{FF2B5EF4-FFF2-40B4-BE49-F238E27FC236}">
                <a16:creationId xmlns:a16="http://schemas.microsoft.com/office/drawing/2014/main" id="{6CB5B7B3-07F4-9BBE-B60A-F0288059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AD93709A-92A8-0A42-91E7-0F87C08518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4210475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5E00C5B-F2BA-4B68-0B5F-5B60D8C9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C745E-051C-3F92-7E04-CA6F23193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78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3745A-CB07-849D-A987-0777D9D3D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78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6B09C-9554-B0BE-C7F6-1ACBC362B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187F20AF-8AE1-B30C-7CDF-1E5E2CEFB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638A5-5421-2370-44EA-F21DF11500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0F0683-76A9-2648-B183-5F9C3FE6B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71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5E00C5B-F2BA-4B68-0B5F-5B60D8C9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C745E-051C-3F92-7E04-CA6F23193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78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3745A-CB07-849D-A987-0777D9D3D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78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6B09C-9554-B0BE-C7F6-1ACBC362B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187F20AF-8AE1-B30C-7CDF-1E5E2CEFB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638A5-5421-2370-44EA-F21DF11500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DB1643-1AE4-0551-3E30-ABDF01AB8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928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17238DD-2EAC-1E7B-4389-DC831394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CBA7-4E92-176A-21AC-AC191FBA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E2924-BF18-6CAB-9272-EA2989171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49859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5BC94-FE0B-8029-CE89-0AB1BC1AC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8ACAE-A695-B94E-C2D1-F958CA49D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9859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2CC163-C2B3-1353-1F27-5EEC672D0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Conn wordmark in white&#10;">
            <a:extLst>
              <a:ext uri="{FF2B5EF4-FFF2-40B4-BE49-F238E27FC236}">
                <a16:creationId xmlns:a16="http://schemas.microsoft.com/office/drawing/2014/main" id="{6D92E2CE-B263-2FF6-E40C-C7E096A8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A56AC4F-91EA-7070-71E7-A86FA45432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7DE6A0-7B2C-3734-E704-61F6F2A22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783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17238DD-2EAC-1E7B-4389-DC831394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CBA7-4E92-176A-21AC-AC191FBA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E2924-BF18-6CAB-9272-EA2989171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498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5BC94-FE0B-8029-CE89-0AB1BC1AC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8ACAE-A695-B94E-C2D1-F958CA49D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98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2CC163-C2B3-1353-1F27-5EEC672D0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Conn wordmark in white&#10;">
            <a:extLst>
              <a:ext uri="{FF2B5EF4-FFF2-40B4-BE49-F238E27FC236}">
                <a16:creationId xmlns:a16="http://schemas.microsoft.com/office/drawing/2014/main" id="{6D92E2CE-B263-2FF6-E40C-C7E096A8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A56AC4F-91EA-7070-71E7-A86FA45432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7DE6A0-7B2C-3734-E704-61F6F2A22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178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07C224-DE5B-ADB1-8138-D075594C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B3C9E-7777-4CD0-E7FB-D49E045A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Conn wordmark in white&#10;">
            <a:extLst>
              <a:ext uri="{FF2B5EF4-FFF2-40B4-BE49-F238E27FC236}">
                <a16:creationId xmlns:a16="http://schemas.microsoft.com/office/drawing/2014/main" id="{760AA4E6-42C5-CA86-228A-19325B821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DA9D6-32C5-0F0F-9A79-8BDFA135A0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93C05D-54D9-B279-F41E-EBBAC7A7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22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07C224-DE5B-ADB1-8138-D075594C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B3C9E-7777-4CD0-E7FB-D49E045A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Conn wordmark in white&#10;">
            <a:extLst>
              <a:ext uri="{FF2B5EF4-FFF2-40B4-BE49-F238E27FC236}">
                <a16:creationId xmlns:a16="http://schemas.microsoft.com/office/drawing/2014/main" id="{760AA4E6-42C5-CA86-228A-19325B821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DA9D6-32C5-0F0F-9A79-8BDFA135A0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93C05D-54D9-B279-F41E-EBBAC7A7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058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E2C345-FBAF-FB0F-61DB-E680B7EB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Conn wordmark in white&#10;">
            <a:extLst>
              <a:ext uri="{FF2B5EF4-FFF2-40B4-BE49-F238E27FC236}">
                <a16:creationId xmlns:a16="http://schemas.microsoft.com/office/drawing/2014/main" id="{793C96E4-6276-F9C2-7D73-C3EFD2250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799B0C9-B76E-9398-3995-52061BA8C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1549255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249F-0951-C9A4-B17A-D58F04CD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B02D03B7-4C68-C168-83D3-EC5A4CAF7F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78568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998F-4431-4232-710F-1C204B44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33716"/>
            <a:ext cx="3310181" cy="2835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9763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09A9DA-F3EA-66D2-B573-362F39BE0E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450495" y="3033716"/>
            <a:ext cx="3310181" cy="2835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7025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58628E-AEF3-46DF-05A9-B25747C5CC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061203" y="3033716"/>
            <a:ext cx="3310181" cy="2835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0958334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8A676-84DF-C629-DEF4-28B0F161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85D3412-A4C8-3F2E-F093-05D71E5887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78568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998F-4431-4232-710F-1C204B44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33716"/>
            <a:ext cx="3310181" cy="2835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9763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09A9DA-F3EA-66D2-B573-362F39BE0E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450495" y="3033716"/>
            <a:ext cx="3310181" cy="2835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7025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58628E-AEF3-46DF-05A9-B25747C5CC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061203" y="3033716"/>
            <a:ext cx="3310181" cy="2835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0301618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3 Columns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38B-51C9-87B4-9ED8-7CC66A73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7AE6585-E61B-760A-8D3D-3E1DD23829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7517" y="1785687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90A29CD-828A-38AA-B3DD-EFE24EB69FA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0616" y="3033715"/>
            <a:ext cx="3356218" cy="2835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9763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0E07C06B-A4DF-6938-177F-E4AC5681852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43047" y="3033715"/>
            <a:ext cx="3356218" cy="2835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7025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2233EDBE-87B3-9605-5EB6-5B5E96CF70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18585" y="3033715"/>
            <a:ext cx="3356218" cy="2835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3078078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3 Columns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E7447F-C836-18DB-527D-890108F5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74F5488-7BA3-B74C-F0F8-B36EA9BC85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2501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90A29CD-828A-38AA-B3DD-EFE24EB69F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0616" y="3033715"/>
            <a:ext cx="3356218" cy="2835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9763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0E07C06B-A4DF-6938-177F-E4AC5681852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43047" y="3033715"/>
            <a:ext cx="3356218" cy="2835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7025" y="1785938"/>
            <a:ext cx="3311525" cy="1074737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2233EDBE-87B3-9605-5EB6-5B5E96CF70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18585" y="3033715"/>
            <a:ext cx="3356218" cy="2835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17659068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ows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B9DA-38CF-DFEE-E590-BF17C62A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1B966E4-D0F9-92A3-0F14-62B0BBEDC5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0616" y="1780162"/>
            <a:ext cx="10514012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998F-4431-4232-710F-1C204B44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0616" y="2320983"/>
            <a:ext cx="10514012" cy="62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616" y="3294675"/>
            <a:ext cx="10514012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09A9DA-F3EA-66D2-B573-362F39BE0E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20616" y="3841992"/>
            <a:ext cx="10550767" cy="626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616" y="4815683"/>
            <a:ext cx="10550767" cy="434113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58628E-AEF3-46DF-05A9-B25747C5CC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0616" y="5346946"/>
            <a:ext cx="10531596" cy="6810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766336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ows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48DE-5D67-1454-C54E-38161088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94B43C0-5F71-5C3E-2BB5-1905361A4E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0616" y="1783080"/>
            <a:ext cx="10514012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998F-4431-4232-710F-1C204B44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0616" y="2320983"/>
            <a:ext cx="10514012" cy="62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616" y="3294675"/>
            <a:ext cx="10514012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09A9DA-F3EA-66D2-B573-362F39BE0E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20616" y="3841992"/>
            <a:ext cx="10550767" cy="626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616" y="4815683"/>
            <a:ext cx="10550767" cy="434113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58628E-AEF3-46DF-05A9-B25747C5CC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0616" y="5346946"/>
            <a:ext cx="10531596" cy="6810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6876033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Rows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5FD7944-B816-BBA1-8EAD-326346C1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3C748C4-1318-ACD2-5EDE-43C30E3BDC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0616" y="1783080"/>
            <a:ext cx="5116331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998F-4431-4232-710F-1C204B44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0616" y="2320983"/>
            <a:ext cx="5116331" cy="6260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616" y="3294675"/>
            <a:ext cx="5116331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09A9DA-F3EA-66D2-B573-362F39BE0E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20617" y="3841992"/>
            <a:ext cx="5134217" cy="62608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617" y="4815683"/>
            <a:ext cx="5134217" cy="434113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58628E-AEF3-46DF-05A9-B25747C5CC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0617" y="5346946"/>
            <a:ext cx="5124888" cy="6810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37DB23C1-F86E-13F7-B150-05B18684CC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07015" y="1783080"/>
            <a:ext cx="5116330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ED3E6CA-5B20-3AEC-84A0-8B95E32FA4A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307015" y="2320983"/>
            <a:ext cx="5116330" cy="6260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21BFF4D1-15AD-8DBB-22B6-B1BBFB1685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7015" y="3294675"/>
            <a:ext cx="5116330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A25724-D265-D4BC-5F17-DFDF0024961E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6307508" y="3841992"/>
            <a:ext cx="5134216" cy="62608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AAEDD94-4B4B-8B1B-721C-0F6B26062A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7508" y="4815683"/>
            <a:ext cx="5134216" cy="434113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D448D81-8CF4-8ADE-FBD6-52D70E29EC3B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307249" y="5346946"/>
            <a:ext cx="5124887" cy="6810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13944954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Rows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8E80-2395-7EB6-A8B7-2A6BDDD3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9766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59FD1D8E-C433-9FDC-FD3A-7CF6FC0BDB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0615" y="1783080"/>
            <a:ext cx="5116331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998F-4431-4232-710F-1C204B44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0616" y="2320983"/>
            <a:ext cx="5116331" cy="62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FEE17-F885-6307-E127-98B330CD7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2DCA70-F7FF-568B-36C8-D11CBEB7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8382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5E78451-C342-A33E-B6C6-0001320BFA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616" y="3294675"/>
            <a:ext cx="5116331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09A9DA-F3EA-66D2-B573-362F39BE0E7E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20617" y="3841992"/>
            <a:ext cx="5134217" cy="626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05C3A79-45FE-4742-325F-6A0C11B76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617" y="4815683"/>
            <a:ext cx="5134217" cy="434113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58628E-AEF3-46DF-05A9-B25747C5CC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0617" y="5346946"/>
            <a:ext cx="5124888" cy="6810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37DB23C1-F86E-13F7-B150-05B18684CC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07015" y="1783080"/>
            <a:ext cx="5116330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ED3E6CA-5B20-3AEC-84A0-8B95E32FA4A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307015" y="2320983"/>
            <a:ext cx="5116330" cy="62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21BFF4D1-15AD-8DBB-22B6-B1BBFB1685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7015" y="3294675"/>
            <a:ext cx="5116330" cy="45721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A25724-D265-D4BC-5F17-DFDF0024961E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6307508" y="3841992"/>
            <a:ext cx="5134216" cy="626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AAEDD94-4B4B-8B1B-721C-0F6B26062A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7508" y="4815683"/>
            <a:ext cx="5134216" cy="434113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D448D81-8CF4-8ADE-FBD6-52D70E29EC3B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307249" y="5346946"/>
            <a:ext cx="5124887" cy="6810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00DA1E89-CAEB-03E8-C64F-C780B4D1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1030F5D-CCB9-D062-DD31-E0A4AC11E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4018812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020F-8E34-4C37-77BC-18219443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515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25A6-650A-A3D4-3F7A-3E32AF08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0690"/>
            <a:ext cx="3932237" cy="36382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A7E15-0C0D-E0FF-9C64-6681EF5293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5F805-566E-00A5-57F5-0D9D781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8D5FB170-CA57-7AA0-D10E-96E514C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30DAD38-817C-F984-3CDE-5EA70D949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CEBAD0-BDAE-7EFF-B821-F87CDD88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2050358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834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020F-8E34-4C37-77BC-18219443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51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25A6-650A-A3D4-3F7A-3E32AF08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0690"/>
            <a:ext cx="3932237" cy="36382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A7E15-0C0D-E0FF-9C64-6681EF529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5F805-566E-00A5-57F5-0D9D781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8D5FB170-CA57-7AA0-D10E-96E514C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30DAD38-817C-F984-3CDE-5EA70D949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CEBAD0-BDAE-7EFF-B821-F87CDD88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2050358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8016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ith Photos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020F-8E34-4C37-77BC-182194430C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974028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6012CC-85BB-7273-5520-FFADE84CE3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413376"/>
            <a:ext cx="318714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25A6-650A-A3D4-3F7A-3E32AF08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4432852"/>
            <a:ext cx="3185560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EA56FC8-B1CC-7DF2-FE90-A4E3335EE4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8200" y="1615392"/>
            <a:ext cx="3187700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5F805-566E-00A5-57F5-0D9D781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CEBAD0-BDAE-7EFF-B821-F87CDD88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44064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8851680-CD58-37EF-8223-7271E2A48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2426" y="3413376"/>
            <a:ext cx="318714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21B64E1-5391-9413-A6CE-B7DAADFF98BE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497389" y="4432852"/>
            <a:ext cx="3185560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B5F4333-8DC2-42B6-72E5-E0C201A704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05739" y="1615392"/>
            <a:ext cx="3187700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E35F2AA-7869-54E4-FB98-95CEBB378C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73278" y="3413376"/>
            <a:ext cx="318714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3B7AFA9-9660-F45F-8E86-CE654B63F52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74867" y="4432852"/>
            <a:ext cx="3185560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5FF5CDE2-AB3E-FFCB-F3B9-064F873B1F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63339" y="1615392"/>
            <a:ext cx="3187700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8D5FB170-CA57-7AA0-D10E-96E514C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30DAD38-817C-F984-3CDE-5EA70D949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4932918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ith Photos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020F-8E34-4C37-77BC-182194430C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974028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6012CC-85BB-7273-5520-FFADE84CE3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413376"/>
            <a:ext cx="318714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25A6-650A-A3D4-3F7A-3E32AF08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4432852"/>
            <a:ext cx="3185560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EA56FC8-B1CC-7DF2-FE90-A4E3335EE4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8200" y="1615392"/>
            <a:ext cx="3187700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5F805-566E-00A5-57F5-0D9D781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CEBAD0-BDAE-7EFF-B821-F87CDD88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44064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8851680-CD58-37EF-8223-7271E2A48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2426" y="3413376"/>
            <a:ext cx="318714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21B64E1-5391-9413-A6CE-B7DAADFF98BE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497389" y="4432852"/>
            <a:ext cx="3185560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B5F4333-8DC2-42B6-72E5-E0C201A704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05739" y="1615392"/>
            <a:ext cx="3187700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E35F2AA-7869-54E4-FB98-95CEBB378C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73278" y="3413376"/>
            <a:ext cx="318714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3B7AFA9-9660-F45F-8E86-CE654B63F52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74867" y="4432852"/>
            <a:ext cx="3185560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5FF5CDE2-AB3E-FFCB-F3B9-064F873B1F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63339" y="1615392"/>
            <a:ext cx="3187700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8D5FB170-CA57-7AA0-D10E-96E514C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30DAD38-817C-F984-3CDE-5EA70D949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33263570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Photos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020F-8E34-4C37-77BC-182194430C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974028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6012CC-85BB-7273-5520-FFADE84CE3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25A6-650A-A3D4-3F7A-3E32AF08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EA56FC8-B1CC-7DF2-FE90-A4E3335EE4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8200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5F805-566E-00A5-57F5-0D9D781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CEBAD0-BDAE-7EFF-B821-F87CDD88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44064"/>
            <a:ext cx="110814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7B6F9C2-1402-A7DB-E26E-B756D8B585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72773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7B2D483-8F56-0FD8-049B-BFA855A9A4C8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574362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E34BAEBE-B164-CD9E-988C-5224F05EAC6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72773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8836918-D19C-ACC8-F57A-AFAB50E2F2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5148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8234EC0-EC47-8275-0BF7-64E4E7F3177A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6236737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CDAC2AE8-2990-5CB7-ACD6-3D29E5C8B20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35148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9F6F29B-5EBF-DF03-95CD-9DB417F64A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28652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989D7AE-FCF4-9C84-B7DF-1EC2640C5FB0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8930241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FF5F1415-7624-24CD-377F-3C5D9669843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28652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8D5FB170-CA57-7AA0-D10E-96E514C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30DAD38-817C-F984-3CDE-5EA70D949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0821294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Photos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020F-8E34-4C37-77BC-182194430C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974028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6012CC-85BB-7273-5520-FFADE84CE3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25A6-650A-A3D4-3F7A-3E32AF08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EA56FC8-B1CC-7DF2-FE90-A4E3335EE4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8200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5F805-566E-00A5-57F5-0D9D7819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176962"/>
            <a:ext cx="12192000" cy="681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CEBAD0-BDAE-7EFF-B821-F87CDD88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8200" y="1444064"/>
            <a:ext cx="110814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7B6F9C2-1402-A7DB-E26E-B756D8B585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72773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7B2D483-8F56-0FD8-049B-BFA855A9A4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574362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E34BAEBE-B164-CD9E-988C-5224F05EAC6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72773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8836918-D19C-ACC8-F57A-AFAB50E2F2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5148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8234EC0-EC47-8275-0BF7-64E4E7F3177A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6236737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CDAC2AE8-2990-5CB7-ACD6-3D29E5C8B20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35148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9F6F29B-5EBF-DF03-95CD-9DB417F64A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28652" y="3413376"/>
            <a:ext cx="2382078" cy="90328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Column title here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989D7AE-FCF4-9C84-B7DF-1EC2640C5F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8930241" y="4432852"/>
            <a:ext cx="2380891" cy="15708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17">
            <a:extLst>
              <a:ext uri="{FF2B5EF4-FFF2-40B4-BE49-F238E27FC236}">
                <a16:creationId xmlns:a16="http://schemas.microsoft.com/office/drawing/2014/main" id="{FF5F1415-7624-24CD-377F-3C5D9669843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28652" y="1615392"/>
            <a:ext cx="2382491" cy="162469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 descr="UConn wordmark in white&#10;">
            <a:extLst>
              <a:ext uri="{FF2B5EF4-FFF2-40B4-BE49-F238E27FC236}">
                <a16:creationId xmlns:a16="http://schemas.microsoft.com/office/drawing/2014/main" id="{8D5FB170-CA57-7AA0-D10E-96E514C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350252"/>
            <a:ext cx="1605394" cy="3344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30DAD38-817C-F984-3CDE-5EA70D949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30062" y="6350252"/>
            <a:ext cx="8223738" cy="3344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14036125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 Blue -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F69-57E9-EA87-F0D3-4E4ECFE2C8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00199"/>
            <a:ext cx="5502965" cy="2658816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A0ECA0-3558-C683-30FF-EA481B12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430" y="0"/>
            <a:ext cx="3376246" cy="1277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20AE21D-2CD1-EEC3-07E3-A43C1B9DB3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9532" y="2595880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Contact Person Title </a:t>
            </a:r>
          </a:p>
          <a:p>
            <a:pPr lvl="0"/>
            <a:r>
              <a:rPr lang="en-US"/>
              <a:t>Contact Person Unit</a:t>
            </a:r>
          </a:p>
          <a:p>
            <a:pPr lvl="0"/>
            <a:endParaRPr lang="en-US"/>
          </a:p>
          <a:p>
            <a:pPr lvl="0"/>
            <a:r>
              <a:rPr lang="en-US"/>
              <a:t>Phone: </a:t>
            </a:r>
          </a:p>
          <a:p>
            <a:pPr lvl="0"/>
            <a:r>
              <a:rPr lang="en-US"/>
              <a:t>Fax: </a:t>
            </a:r>
          </a:p>
          <a:p>
            <a:pPr lvl="0"/>
            <a:r>
              <a:rPr lang="en-US"/>
              <a:t>Email: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E514B7-983F-443B-646B-B22746468F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653229"/>
            <a:ext cx="3139492" cy="341632"/>
          </a:xfrm>
          <a:solidFill>
            <a:schemeClr val="accent2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/>
              <a:t>Insert Web Address</a:t>
            </a:r>
          </a:p>
        </p:txBody>
      </p:sp>
      <p:pic>
        <p:nvPicPr>
          <p:cNvPr id="8" name="Picture 7" descr="UConn blue wordmark">
            <a:extLst>
              <a:ext uri="{FF2B5EF4-FFF2-40B4-BE49-F238E27FC236}">
                <a16:creationId xmlns:a16="http://schemas.microsoft.com/office/drawing/2014/main" id="{61D3C0A5-9F42-4013-62A9-5EBFA6AB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95" y="435012"/>
            <a:ext cx="2475621" cy="51575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D9D9A2-C3DD-CC2B-BEBC-839A77821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6257" y="501644"/>
            <a:ext cx="6650313" cy="7043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4320187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 Blue - Roya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CF69-57E9-EA87-F0D3-4E4ECFE2C8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00199"/>
            <a:ext cx="5502965" cy="2658816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A0ECA0-3558-C683-30FF-EA481B12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430" y="0"/>
            <a:ext cx="3376246" cy="1277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920AE21D-2CD1-EEC3-07E3-A43C1B9DB3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9532" y="2595880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Contact Person Title </a:t>
            </a:r>
          </a:p>
          <a:p>
            <a:pPr lvl="0"/>
            <a:r>
              <a:rPr lang="en-US"/>
              <a:t>Contact Person Unit</a:t>
            </a:r>
          </a:p>
          <a:p>
            <a:pPr lvl="0"/>
            <a:endParaRPr lang="en-US"/>
          </a:p>
          <a:p>
            <a:pPr lvl="0"/>
            <a:r>
              <a:rPr lang="en-US"/>
              <a:t>Phone: </a:t>
            </a:r>
          </a:p>
          <a:p>
            <a:pPr lvl="0"/>
            <a:r>
              <a:rPr lang="en-US"/>
              <a:t>Fax: </a:t>
            </a:r>
          </a:p>
          <a:p>
            <a:pPr lvl="0"/>
            <a:r>
              <a:rPr lang="en-US"/>
              <a:t>Email: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E514B7-983F-443B-646B-B22746468F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653229"/>
            <a:ext cx="3139492" cy="341632"/>
          </a:xfr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/>
              <a:t>Insert Web Address</a:t>
            </a:r>
          </a:p>
        </p:txBody>
      </p:sp>
      <p:pic>
        <p:nvPicPr>
          <p:cNvPr id="8" name="Picture 7" descr="UConn blue wordmark">
            <a:extLst>
              <a:ext uri="{FF2B5EF4-FFF2-40B4-BE49-F238E27FC236}">
                <a16:creationId xmlns:a16="http://schemas.microsoft.com/office/drawing/2014/main" id="{61D3C0A5-9F42-4013-62A9-5EBFA6AB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95" y="435012"/>
            <a:ext cx="2475621" cy="51575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D9D9A2-C3DD-CC2B-BEBC-839A77821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6257" y="501644"/>
            <a:ext cx="6650313" cy="7043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481601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 Whit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F7CFC20-200C-ABB8-BBDC-4585454A81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00199"/>
            <a:ext cx="5502965" cy="2658816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84295-D324-502A-4D35-22B2442CC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430" y="0"/>
            <a:ext cx="3376246" cy="1277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FC25306-0B97-AFD6-6CF1-66E3E3AEDA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9532" y="2595880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Contact Person Title </a:t>
            </a:r>
          </a:p>
          <a:p>
            <a:pPr lvl="0"/>
            <a:r>
              <a:rPr lang="en-US"/>
              <a:t>Contact Person Unit</a:t>
            </a:r>
          </a:p>
          <a:p>
            <a:pPr lvl="0"/>
            <a:endParaRPr lang="en-US"/>
          </a:p>
          <a:p>
            <a:pPr lvl="0"/>
            <a:r>
              <a:rPr lang="en-US"/>
              <a:t>Phone: </a:t>
            </a:r>
          </a:p>
          <a:p>
            <a:pPr lvl="0"/>
            <a:r>
              <a:rPr lang="en-US"/>
              <a:t>Fax: </a:t>
            </a:r>
          </a:p>
          <a:p>
            <a:pPr lvl="0"/>
            <a:r>
              <a:rPr lang="en-US"/>
              <a:t>Email: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FCD2A77-4139-59F3-B780-54406A33D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653229"/>
            <a:ext cx="3139492" cy="341632"/>
          </a:xfrm>
          <a:solidFill>
            <a:schemeClr val="accent2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/>
              <a:t>Insert Web Address</a:t>
            </a:r>
          </a:p>
        </p:txBody>
      </p:sp>
      <p:pic>
        <p:nvPicPr>
          <p:cNvPr id="8" name="Picture 7" descr="UConn wordmark in white&#10;">
            <a:extLst>
              <a:ext uri="{FF2B5EF4-FFF2-40B4-BE49-F238E27FC236}">
                <a16:creationId xmlns:a16="http://schemas.microsoft.com/office/drawing/2014/main" id="{642A3E03-432D-5FE3-1123-7FE5CAC6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47" y="375139"/>
            <a:ext cx="2521335" cy="525278"/>
          </a:xfrm>
          <a:prstGeom prst="rect">
            <a:avLst/>
          </a:prstGeom>
        </p:spPr>
      </p:pic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DBE8451-3C7F-C3A0-A584-F0FCA51166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6257" y="501644"/>
            <a:ext cx="6650313" cy="7043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33014173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 White - Roya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F7CFC20-200C-ABB8-BBDC-4585454A81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00199"/>
            <a:ext cx="5502965" cy="2658816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84295-D324-502A-4D35-22B2442CC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430" y="0"/>
            <a:ext cx="3376246" cy="12778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FC25306-0B97-AFD6-6CF1-66E3E3AEDA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9532" y="2595880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Contact Person Title </a:t>
            </a:r>
          </a:p>
          <a:p>
            <a:pPr lvl="0"/>
            <a:r>
              <a:rPr lang="en-US"/>
              <a:t>Contact Person Unit</a:t>
            </a:r>
          </a:p>
          <a:p>
            <a:pPr lvl="0"/>
            <a:endParaRPr lang="en-US"/>
          </a:p>
          <a:p>
            <a:pPr lvl="0"/>
            <a:r>
              <a:rPr lang="en-US"/>
              <a:t>Phone: </a:t>
            </a:r>
          </a:p>
          <a:p>
            <a:pPr lvl="0"/>
            <a:r>
              <a:rPr lang="en-US"/>
              <a:t>Fax: </a:t>
            </a:r>
          </a:p>
          <a:p>
            <a:pPr lvl="0"/>
            <a:r>
              <a:rPr lang="en-US"/>
              <a:t>Email: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FCD2A77-4139-59F3-B780-54406A33D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653229"/>
            <a:ext cx="3139492" cy="341632"/>
          </a:xfr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/>
              <a:t>Insert Web Address</a:t>
            </a:r>
          </a:p>
        </p:txBody>
      </p:sp>
      <p:pic>
        <p:nvPicPr>
          <p:cNvPr id="8" name="Picture 7" descr="UConn wordmark in white&#10;">
            <a:extLst>
              <a:ext uri="{FF2B5EF4-FFF2-40B4-BE49-F238E27FC236}">
                <a16:creationId xmlns:a16="http://schemas.microsoft.com/office/drawing/2014/main" id="{642A3E03-432D-5FE3-1123-7FE5CAC6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47" y="375139"/>
            <a:ext cx="2521335" cy="525278"/>
          </a:xfrm>
          <a:prstGeom prst="rect">
            <a:avLst/>
          </a:prstGeom>
        </p:spPr>
      </p:pic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DBE8451-3C7F-C3A0-A584-F0FCA51166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6257" y="501644"/>
            <a:ext cx="6650313" cy="70434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Insert—Header—Footer—Customizable Name</a:t>
            </a:r>
          </a:p>
        </p:txBody>
      </p:sp>
    </p:spTree>
    <p:extLst>
      <p:ext uri="{BB962C8B-B14F-4D97-AF65-F5344CB8AC3E}">
        <p14:creationId xmlns:p14="http://schemas.microsoft.com/office/powerpoint/2010/main" val="29574085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Solid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Conn wordmark in white&#10;">
            <a:extLst>
              <a:ext uri="{FF2B5EF4-FFF2-40B4-BE49-F238E27FC236}">
                <a16:creationId xmlns:a16="http://schemas.microsoft.com/office/drawing/2014/main" id="{E18E10AC-ED33-66B0-B0F8-50A5136FF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822" y="2822713"/>
            <a:ext cx="5820356" cy="12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747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Solid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onn blue wordmark">
            <a:extLst>
              <a:ext uri="{FF2B5EF4-FFF2-40B4-BE49-F238E27FC236}">
                <a16:creationId xmlns:a16="http://schemas.microsoft.com/office/drawing/2014/main" id="{454F619A-3103-A657-644A-F071A852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822" y="2822713"/>
            <a:ext cx="5820356" cy="12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26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5/22/26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687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1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97CC9-25F2-5DC4-60A8-D331494C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F005B-276F-E0E0-6D8E-917A10178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ACC3-39C2-DFA3-5EBA-E97C043DF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5/22/26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046B4-140E-5112-E27E-15230FD62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119D3-EF8A-CE44-019B-15E44D904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2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0024-DEA4-9167-5434-BFEF869F5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17115"/>
            <a:ext cx="10398370" cy="1875507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/>
              <a:t>OPIM5512_A10</a:t>
            </a:r>
            <a:br>
              <a:rPr lang="en-US" altLang="ko-KR" dirty="0"/>
            </a:br>
            <a:r>
              <a:rPr lang="en-US" altLang="ko-KR" dirty="0"/>
              <a:t>FOOD RECALLS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977E2-C3BD-B1C4-EC58-2AA07AAEC0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YEONGEUN RA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28D5B-D583-0B75-8A88-C90DA896B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6477" y="5392420"/>
            <a:ext cx="6155726" cy="11853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May 22, 2026</a:t>
            </a:r>
          </a:p>
          <a:p>
            <a:r>
              <a:rPr lang="en-US" dirty="0"/>
              <a:t>JRJ24004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0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1BED-032B-4B74-5FDD-F77AFC06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ADFB-9E96-7688-B458-09AB1C7B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>
                <a:latin typeface="Aptos Display"/>
              </a:rPr>
              <a:t>PROBLEM &amp; DATASET</a:t>
            </a:r>
            <a:endParaRPr 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1CB6561-0A4C-DD4C-9619-BBB4A5AD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80158" cy="4178041"/>
          </a:xfrm>
        </p:spPr>
        <p:txBody>
          <a:bodyPr>
            <a:normAutofit/>
          </a:bodyPr>
          <a:lstStyle/>
          <a:p>
            <a:pPr algn="just"/>
            <a:r>
              <a:rPr lang="en" altLang="ko-Kore-GB" sz="1800" b="1" dirty="0"/>
              <a:t>Target: Event Classification (Class 1 / 2 / 3)</a:t>
            </a:r>
          </a:p>
          <a:p>
            <a:pPr algn="just"/>
            <a:r>
              <a:rPr lang="en" altLang="ko-Kore-GB" sz="1800" b="1" dirty="0"/>
              <a:t>Inputs: Product Description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&amp;</a:t>
            </a:r>
            <a:r>
              <a:rPr lang="ko-KR" altLang="en-US" sz="1800" b="1" dirty="0"/>
              <a:t> </a:t>
            </a:r>
            <a:r>
              <a:rPr lang="en" altLang="ko-Kore-GB" sz="1800" b="1" dirty="0"/>
              <a:t>Reason for Recall</a:t>
            </a:r>
          </a:p>
          <a:p>
            <a:pPr algn="just"/>
            <a:r>
              <a:rPr lang="en" altLang="ko-Kore-GB" sz="1800" b="1" dirty="0"/>
              <a:t>Severe class imbalance:</a:t>
            </a:r>
            <a:r>
              <a:rPr lang="ko-KR" altLang="en-US" sz="1800" b="1" dirty="0"/>
              <a:t> </a:t>
            </a:r>
            <a:r>
              <a:rPr lang="en" altLang="ko-Kore-GB" sz="1800" b="1" dirty="0"/>
              <a:t> </a:t>
            </a:r>
          </a:p>
          <a:p>
            <a:pPr marL="0" indent="0" algn="just">
              <a:buNone/>
            </a:pPr>
            <a:r>
              <a:rPr lang="en" altLang="ko-Kore-GB" sz="1800" b="1" dirty="0"/>
              <a:t>Class 2 dominates the dataset</a:t>
            </a:r>
          </a:p>
          <a:p>
            <a:pPr marL="0" indent="0" algn="just">
              <a:buNone/>
            </a:pPr>
            <a:r>
              <a:rPr lang="en" altLang="ko-Kore-GB" sz="1800" b="1" dirty="0"/>
              <a:t> </a:t>
            </a:r>
            <a:r>
              <a:rPr lang="en" altLang="ko-Kore-GB" sz="1800" b="1" dirty="0">
                <a:solidFill>
                  <a:srgbClr val="BBBEBF"/>
                </a:solidFill>
                <a:effectLst/>
                <a:latin typeface="Menlo" panose="020B0609030804020204" pitchFamily="49" charset="0"/>
              </a:rPr>
              <a:t>weighted F1 score </a:t>
            </a:r>
          </a:p>
          <a:p>
            <a:pPr marL="0" indent="0" algn="just">
              <a:buNone/>
            </a:pPr>
            <a:r>
              <a:rPr lang="en" altLang="ko-Kore-GB" sz="1800" b="1" dirty="0">
                <a:solidFill>
                  <a:srgbClr val="BBBEBF"/>
                </a:solidFill>
                <a:effectLst/>
                <a:latin typeface="Menlo" panose="020B0609030804020204" pitchFamily="49" charset="0"/>
              </a:rPr>
              <a:t>+ add </a:t>
            </a:r>
            <a:r>
              <a:rPr lang="en" altLang="ko-Kore-GB" sz="1800" b="1" dirty="0" err="1">
                <a:solidFill>
                  <a:srgbClr val="BBBEBF"/>
                </a:solidFill>
                <a:effectLst/>
                <a:latin typeface="Menlo" panose="020B0609030804020204" pitchFamily="49" charset="0"/>
              </a:rPr>
              <a:t>class_weight</a:t>
            </a:r>
            <a:r>
              <a:rPr lang="en" altLang="ko-Kore-GB" sz="1800" b="1" dirty="0">
                <a:solidFill>
                  <a:srgbClr val="BBBEBF"/>
                </a:solidFill>
                <a:effectLst/>
                <a:latin typeface="Menlo" panose="020B0609030804020204" pitchFamily="49" charset="0"/>
              </a:rPr>
              <a:t>='balanced' </a:t>
            </a:r>
          </a:p>
          <a:p>
            <a:pPr algn="just"/>
            <a:endParaRPr lang="en-US" altLang="ko-KR" sz="1800" b="1" dirty="0"/>
          </a:p>
        </p:txBody>
      </p:sp>
      <p:pic>
        <p:nvPicPr>
          <p:cNvPr id="12" name="그림 11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7DBB2F23-F643-A14F-98B3-DA1C20DDD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478698"/>
            <a:ext cx="5560595" cy="3268276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9B289CC8-1184-C74C-AA56-2814896536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ore-GB" altLang="en-US"/>
          </a:p>
        </p:txBody>
      </p:sp>
    </p:spTree>
    <p:extLst>
      <p:ext uri="{BB962C8B-B14F-4D97-AF65-F5344CB8AC3E}">
        <p14:creationId xmlns:p14="http://schemas.microsoft.com/office/powerpoint/2010/main" val="378553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1BED-032B-4B74-5FDD-F77AFC06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ADFB-9E96-7688-B458-09AB1C7B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2. DATA PREPARTATION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44EAD-BC7D-5044-AB02-0D87CD6B284A}"/>
              </a:ext>
            </a:extLst>
          </p:cNvPr>
          <p:cNvSpPr txBox="1"/>
          <p:nvPr/>
        </p:nvSpPr>
        <p:spPr>
          <a:xfrm>
            <a:off x="838200" y="1717466"/>
            <a:ext cx="3156284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GB" b="1" dirty="0"/>
              <a:t>[NLP preprocessing] </a:t>
            </a:r>
          </a:p>
          <a:p>
            <a:endParaRPr lang="en-US" altLang="ko-Kore-GB" sz="500" b="1" dirty="0"/>
          </a:p>
          <a:p>
            <a:r>
              <a:rPr lang="ko-Kore-GB" altLang="en-US" b="1" dirty="0"/>
              <a:t>lowercase</a:t>
            </a:r>
          </a:p>
          <a:p>
            <a:r>
              <a:rPr lang="ko-Kore-GB" altLang="en-US" b="1" dirty="0"/>
              <a:t>↓</a:t>
            </a:r>
          </a:p>
          <a:p>
            <a:r>
              <a:rPr lang="ko-Kore-GB" altLang="en-US" b="1" dirty="0"/>
              <a:t>remove symbols</a:t>
            </a:r>
          </a:p>
          <a:p>
            <a:r>
              <a:rPr lang="ko-Kore-GB" altLang="en-US" b="1" dirty="0"/>
              <a:t>↓</a:t>
            </a:r>
          </a:p>
          <a:p>
            <a:r>
              <a:rPr lang="ko-Kore-GB" altLang="en-US" b="1" dirty="0"/>
              <a:t>remove stopwords</a:t>
            </a:r>
          </a:p>
          <a:p>
            <a:r>
              <a:rPr lang="ko-Kore-GB" altLang="en-US" b="1" dirty="0"/>
              <a:t>↓</a:t>
            </a:r>
          </a:p>
          <a:p>
            <a:r>
              <a:rPr lang="ko-Kore-GB" altLang="en-US" b="1" dirty="0"/>
              <a:t>tokenization</a:t>
            </a:r>
          </a:p>
          <a:p>
            <a:r>
              <a:rPr lang="ko-Kore-GB" altLang="en-US" b="1" dirty="0"/>
              <a:t>↓</a:t>
            </a:r>
          </a:p>
          <a:p>
            <a:r>
              <a:rPr lang="ko-Kore-GB" altLang="en-US" b="1" dirty="0"/>
              <a:t>stemming</a:t>
            </a:r>
          </a:p>
        </p:txBody>
      </p:sp>
      <p:pic>
        <p:nvPicPr>
          <p:cNvPr id="11" name="그림 10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CF336472-E205-5A46-8151-7B18938BB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571" y="1666854"/>
            <a:ext cx="3977533" cy="23473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A2A1DB-09CA-0D43-9136-76EF9F4E9FFD}"/>
              </a:ext>
            </a:extLst>
          </p:cNvPr>
          <p:cNvSpPr txBox="1"/>
          <p:nvPr/>
        </p:nvSpPr>
        <p:spPr>
          <a:xfrm>
            <a:off x="3402684" y="1680155"/>
            <a:ext cx="4433887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GB" b="1" dirty="0"/>
              <a:t>[Data Preparation] </a:t>
            </a:r>
          </a:p>
          <a:p>
            <a:endParaRPr lang="en" altLang="ko-Kore-GB" sz="500" b="1" dirty="0"/>
          </a:p>
          <a:p>
            <a:r>
              <a:rPr lang="en" altLang="ko-Kore-GB" b="1" dirty="0"/>
              <a:t>Traditional NLP preparation</a:t>
            </a:r>
          </a:p>
          <a:p>
            <a:pPr marL="285750" indent="-285750">
              <a:buFontTx/>
              <a:buChar char="-"/>
            </a:pPr>
            <a:r>
              <a:rPr lang="en" altLang="ko-Kore-GB" b="1" dirty="0"/>
              <a:t>Bag of Words : </a:t>
            </a:r>
            <a:r>
              <a:rPr lang="en" altLang="ko-Kore-GB" dirty="0"/>
              <a:t>Convert token frequency into numerical vectors</a:t>
            </a:r>
          </a:p>
          <a:p>
            <a:pPr marL="285750" indent="-285750">
              <a:buFontTx/>
              <a:buChar char="-"/>
            </a:pPr>
            <a:r>
              <a:rPr lang="en" altLang="ko-Kore-GB" b="1" dirty="0"/>
              <a:t>TF-IDF:  </a:t>
            </a:r>
            <a:r>
              <a:rPr lang="en" altLang="ko-Kore-GB" dirty="0"/>
              <a:t>Weight important recall terminology</a:t>
            </a:r>
          </a:p>
          <a:p>
            <a:endParaRPr lang="en" altLang="ko-Kore-GB" dirty="0"/>
          </a:p>
          <a:p>
            <a:r>
              <a:rPr lang="en" altLang="ko-Kore-GB" b="1" dirty="0"/>
              <a:t>Transformer preparation</a:t>
            </a:r>
          </a:p>
          <a:p>
            <a:pPr marL="285750" indent="-285750">
              <a:buFontTx/>
              <a:buChar char="-"/>
            </a:pPr>
            <a:r>
              <a:rPr lang="en" altLang="ko-Kore-GB" b="1" dirty="0"/>
              <a:t>sequence generation: </a:t>
            </a:r>
            <a:r>
              <a:rPr lang="en" altLang="ko-Kore-GB" dirty="0"/>
              <a:t>tokenizer, padded sequences , truncation </a:t>
            </a:r>
          </a:p>
          <a:p>
            <a:endParaRPr lang="en" altLang="ko-Kore-GB" dirty="0"/>
          </a:p>
          <a:p>
            <a:r>
              <a:rPr lang="en" altLang="ko-Kore-GB" b="1" dirty="0"/>
              <a:t>Train/Test Split</a:t>
            </a:r>
          </a:p>
          <a:p>
            <a:pPr rtl="0"/>
            <a:r>
              <a:rPr lang="en" altLang="ko-Kore-GB" dirty="0"/>
              <a:t>- 90/10 split</a:t>
            </a:r>
            <a:br>
              <a:rPr lang="en" altLang="ko-Kore-GB" dirty="0"/>
            </a:br>
            <a:r>
              <a:rPr lang="en" altLang="ko-Kore-GB" dirty="0"/>
              <a:t>- </a:t>
            </a:r>
            <a:r>
              <a:rPr lang="en" altLang="ko-Kore-GB" dirty="0" err="1"/>
              <a:t>random_state</a:t>
            </a:r>
            <a:r>
              <a:rPr lang="en" altLang="ko-Kore-GB" dirty="0"/>
              <a:t>=42</a:t>
            </a:r>
            <a:br>
              <a:rPr lang="en" altLang="ko-Kore-GB" dirty="0"/>
            </a:br>
            <a:r>
              <a:rPr lang="en" altLang="ko-Kore-GB" dirty="0"/>
              <a:t>- stratify=y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3C2DE95E-627C-5B43-A655-C0E974463F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ore-GB" altLang="en-US"/>
          </a:p>
        </p:txBody>
      </p:sp>
    </p:spTree>
    <p:extLst>
      <p:ext uri="{BB962C8B-B14F-4D97-AF65-F5344CB8AC3E}">
        <p14:creationId xmlns:p14="http://schemas.microsoft.com/office/powerpoint/2010/main" val="613817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1BED-032B-4B74-5FDD-F77AFC06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ADFB-9E96-7688-B458-09AB1C7B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3. MODELS</a:t>
            </a:r>
            <a:endParaRPr 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2DAF4DAF-CE24-2544-8016-34C56461B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942612"/>
              </p:ext>
            </p:extLst>
          </p:nvPr>
        </p:nvGraphicFramePr>
        <p:xfrm>
          <a:off x="838200" y="2046786"/>
          <a:ext cx="10515600" cy="2103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53793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11898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1637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215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Naive Majority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Majority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Benchmark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 dirty="0"/>
                        <a:t>Bag of Words + 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Traditional 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Frequency-based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307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TF-IDF + 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Weighted text 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Improved token 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25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 dirty="0"/>
                        <a:t>Hugging Face Zero-shot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Pretrained 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Semantic language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406927"/>
                  </a:ext>
                </a:extLst>
              </a:tr>
            </a:tbl>
          </a:graphicData>
        </a:graphic>
      </p:graphicFrame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50EC25F-8B87-DF4B-94AD-2A1AF0E42C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ore-GB" altLang="en-US"/>
          </a:p>
        </p:txBody>
      </p:sp>
    </p:spTree>
    <p:extLst>
      <p:ext uri="{BB962C8B-B14F-4D97-AF65-F5344CB8AC3E}">
        <p14:creationId xmlns:p14="http://schemas.microsoft.com/office/powerpoint/2010/main" val="1948796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1BED-032B-4B74-5FDD-F77AFC06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ADFB-9E96-7688-B458-09AB1C7B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4. RESULTS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EAFE34-F817-9F4A-B097-5215EB1F9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ore-GB" altLang="en-US"/>
          </a:p>
        </p:txBody>
      </p:sp>
      <p:pic>
        <p:nvPicPr>
          <p:cNvPr id="7" name="그림 6" descr="소프트웨어, 텍스트, 멀티미디어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C0F73355-FA63-EB49-8425-54D65150E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256" t="50064" r="29365" b="36929"/>
          <a:stretch/>
        </p:blipFill>
        <p:spPr>
          <a:xfrm>
            <a:off x="838200" y="1687673"/>
            <a:ext cx="6133479" cy="2045369"/>
          </a:xfrm>
          <a:prstGeom prst="rect">
            <a:avLst/>
          </a:prstGeom>
        </p:spPr>
      </p:pic>
      <p:pic>
        <p:nvPicPr>
          <p:cNvPr id="10" name="그림 9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43B279DE-A4F6-9940-B5CC-573A39E6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005" y="1478698"/>
            <a:ext cx="4403634" cy="4541248"/>
          </a:xfrm>
          <a:prstGeom prst="rect">
            <a:avLst/>
          </a:prstGeom>
        </p:spPr>
      </p:pic>
      <p:pic>
        <p:nvPicPr>
          <p:cNvPr id="14" name="그림 13" descr="텍스트, 소프트웨어, 멀티미디어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425A30AB-E66B-CD46-95C2-4BA8286107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781" t="60108" r="40379" b="30944"/>
          <a:stretch/>
        </p:blipFill>
        <p:spPr>
          <a:xfrm>
            <a:off x="838200" y="3878353"/>
            <a:ext cx="6133478" cy="180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1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1BED-032B-4B74-5FDD-F77AFC06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ADFB-9E96-7688-B458-09AB1C7B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891"/>
            <a:ext cx="10515600" cy="79766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 Display"/>
              </a:rPr>
              <a:t>5. INTERPRETABILITY</a:t>
            </a:r>
            <a:br>
              <a:rPr lang="en-US" dirty="0">
                <a:latin typeface="Aptos Display"/>
              </a:rPr>
            </a:br>
            <a:r>
              <a:rPr lang="ko-KR" altLang="en-US" dirty="0">
                <a:latin typeface="Aptos Display"/>
              </a:rPr>
              <a:t> </a:t>
            </a:r>
            <a:r>
              <a:rPr lang="en-US" altLang="ko-KR" dirty="0">
                <a:latin typeface="Aptos Display"/>
              </a:rPr>
              <a:t>: XAI + PERMUTATION IMPORTANCE </a:t>
            </a:r>
            <a:r>
              <a:rPr lang="en-US" dirty="0">
                <a:latin typeface="Aptos Display"/>
              </a:rPr>
              <a:t> </a:t>
            </a:r>
            <a:endParaRPr lang="en-US" dirty="0"/>
          </a:p>
        </p:txBody>
      </p:sp>
      <p:pic>
        <p:nvPicPr>
          <p:cNvPr id="5" name="내용 개체 틀 4" descr="소프트웨어, 텍스트, 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F5EE3AED-6C71-3648-9A01-B881DE3A7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4205" t="63908" r="30255" b="12031"/>
          <a:stretch/>
        </p:blipFill>
        <p:spPr>
          <a:xfrm>
            <a:off x="3762799" y="1585474"/>
            <a:ext cx="4666402" cy="4515870"/>
          </a:xfr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E108ABF-DFA2-B643-8672-5F04C996C4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ore-GB" altLang="en-US"/>
          </a:p>
        </p:txBody>
      </p:sp>
    </p:spTree>
    <p:extLst>
      <p:ext uri="{BB962C8B-B14F-4D97-AF65-F5344CB8AC3E}">
        <p14:creationId xmlns:p14="http://schemas.microsoft.com/office/powerpoint/2010/main" val="11821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01A2D-B64B-311E-A228-FB0D8DB3B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4790" y="2463799"/>
            <a:ext cx="6662420" cy="1930401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463494360"/>
      </p:ext>
    </p:extLst>
  </p:cSld>
  <p:clrMapOvr>
    <a:masterClrMapping/>
  </p:clrMapOvr>
</p:sld>
</file>

<file path=ppt/theme/theme1.xml><?xml version="1.0" encoding="utf-8"?>
<a:theme xmlns:a="http://schemas.openxmlformats.org/drawingml/2006/main" name="UConn-PPT-Template-widescreen-2025">
  <a:themeElements>
    <a:clrScheme name="UConn Colors 1">
      <a:dk1>
        <a:srgbClr val="000000"/>
      </a:dk1>
      <a:lt1>
        <a:srgbClr val="FFFFFF"/>
      </a:lt1>
      <a:dk2>
        <a:srgbClr val="17295C"/>
      </a:dk2>
      <a:lt2>
        <a:srgbClr val="E8E8E8"/>
      </a:lt2>
      <a:accent1>
        <a:srgbClr val="0038BB"/>
      </a:accent1>
      <a:accent2>
        <a:srgbClr val="BA2229"/>
      </a:accent2>
      <a:accent3>
        <a:srgbClr val="8CBFE6"/>
      </a:accent3>
      <a:accent4>
        <a:srgbClr val="D9EAF3"/>
      </a:accent4>
      <a:accent5>
        <a:srgbClr val="001236"/>
      </a:accent5>
      <a:accent6>
        <a:srgbClr val="4EA72E"/>
      </a:accent6>
      <a:hlink>
        <a:srgbClr val="013CCE"/>
      </a:hlink>
      <a:folHlink>
        <a:srgbClr val="033DC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B4968D46-E14F-5046-A3CD-49D9053572C1}" vid="{D01E5105-143D-7744-BA07-725F995F41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UConn-PPT-Template-widescreen-2025</Template>
  <TotalTime>1535</TotalTime>
  <Words>204</Words>
  <Application>Microsoft Macintosh PowerPoint</Application>
  <PresentationFormat>와이드스크린</PresentationFormat>
  <Paragraphs>56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Menlo</vt:lpstr>
      <vt:lpstr>UConn-PPT-Template-widescreen-2025</vt:lpstr>
      <vt:lpstr>OPIM5512_A10 FOOD RECALLS</vt:lpstr>
      <vt:lpstr>PROBLEM &amp; DATASET</vt:lpstr>
      <vt:lpstr>2. DATA PREPARTATION</vt:lpstr>
      <vt:lpstr>3. MODELS</vt:lpstr>
      <vt:lpstr>4. RESULTS</vt:lpstr>
      <vt:lpstr>5. INTERPRETABILITY  : XAI + PERMUTATION IMPORTANCE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TRAVELERS UMC</dc:title>
  <dc:creator>Correa, Carlos</dc:creator>
  <cp:lastModifiedBy>나인영</cp:lastModifiedBy>
  <cp:revision>4</cp:revision>
  <dcterms:created xsi:type="dcterms:W3CDTF">2025-11-23T01:56:22Z</dcterms:created>
  <dcterms:modified xsi:type="dcterms:W3CDTF">2026-05-23T18:57:34Z</dcterms:modified>
</cp:coreProperties>
</file>